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81" r:id="rId13"/>
    <p:sldId id="273" r:id="rId14"/>
    <p:sldId id="279" r:id="rId15"/>
    <p:sldId id="280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27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19F7"/>
    <a:srgbClr val="653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7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85C4-4E25-3A6A-3488-53C67F25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97F8A-FA96-5D0E-FB48-834420E60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41400-1882-5BF3-E705-6AB0E3940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3E40A-AB98-930F-2770-AFE67088F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02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8060C-E8CD-1CE2-DF27-BC5FFBD7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617E0-3BED-E5EF-D9FE-29B2223E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FC61F-583A-9821-2725-828F0C45A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F9816-4205-5528-387E-B3FA0A80A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45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809C-E2CC-B165-8A5E-93AC31FA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8D5E-007A-0803-4894-2E5577CCA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AC15E-AF43-8ABF-15F5-27B9E5F43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43F95-5E7D-A0AA-7481-11D2EBD49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45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A252-0A44-E024-3F56-4EFF0F39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DBE81-601B-F3E7-CF3B-21DD69B43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20F28-789C-5A40-9274-E80E4389B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0C990-205F-EA95-1603-B27B29E5F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6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1d3627c9f8a7ce6b30.gradio.live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Sports Analytics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IPL Match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8430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Balanced Team Generation</a:t>
            </a:r>
            <a:endParaRPr lang="en-US" sz="38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27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Shravani Manik Ghadge</a:t>
            </a:r>
            <a:r>
              <a:rPr lang="en-US" sz="1400" dirty="0">
                <a:solidFill>
                  <a:srgbClr val="7F8C9A"/>
                </a:solidFill>
              </a:rPr>
              <a:t>   |   ADT24SESM0137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9A"/>
                </a:solidFill>
              </a:rPr>
              <a:t>Guide: </a:t>
            </a:r>
            <a:r>
              <a:rPr lang="en-US" sz="1400" b="1" dirty="0">
                <a:solidFill>
                  <a:srgbClr val="FFB830"/>
                </a:solidFill>
              </a:rPr>
              <a:t>Prof. Rohit Raskar</a:t>
            </a:r>
            <a:r>
              <a:rPr lang="en-US" sz="1400" dirty="0">
                <a:solidFill>
                  <a:srgbClr val="7F8C9A"/>
                </a:solidFill>
              </a:rPr>
              <a:t>   |   May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76288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9775" y="813369"/>
            <a:ext cx="6217920" cy="4316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Literature Review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&amp;Discussion</a:t>
            </a:r>
          </a:p>
          <a:p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&amp; 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E00D0-9563-C217-68AA-1C338D17BDFC}"/>
              </a:ext>
            </a:extLst>
          </p:cNvPr>
          <p:cNvSpPr txBox="1"/>
          <p:nvPr/>
        </p:nvSpPr>
        <p:spPr>
          <a:xfrm>
            <a:off x="1103586" y="256377"/>
            <a:ext cx="3647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4D8B-F28D-67E5-BB34-9D58C993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D093FD-84F0-144F-3CDE-E785830DDD73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B3B1F4-2DE4-CD33-FFB6-C5C116B634E3}"/>
              </a:ext>
            </a:extLst>
          </p:cNvPr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BB2CA1-BEEC-C9E3-7681-11B6FDAFD48A}"/>
              </a:ext>
            </a:extLst>
          </p:cNvPr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6C807-64DB-CC41-78E5-1BBCF967CF72}"/>
              </a:ext>
            </a:extLst>
          </p:cNvPr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I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899046-285E-D2BD-1113-83857761AB67}"/>
              </a:ext>
            </a:extLst>
          </p:cNvPr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CDFB1F-7921-EFF9-AA73-B68E6C1FFBE4}"/>
              </a:ext>
            </a:extLst>
          </p:cNvPr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Data Science meets the Game of Cricket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7703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</a:rPr>
              <a:t>The Indian Premier League (IPL)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</a:rPr>
              <a:t>One of the world's most data-intensive T20 cricket tournaments — active since 2007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10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</a:rPr>
              <a:t>Every ball generates rich data: runs, wickets, partnerships, strike rates &amp; match context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14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</a:rPr>
              <a:t>Small strategic decisions in T20 cricket can drastically influence final results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</a:rPr>
              <a:t>Sports organisations increasingly leverage analytics for tactical planning &amp; player selection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2606040" cy="98755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30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30"/>
                </a:solidFill>
              </a:rPr>
              <a:t>Module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0690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Win Probability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3703320"/>
            <a:ext cx="260604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64408" y="3730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30"/>
                </a:solidFill>
              </a:rPr>
              <a:t>Module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40690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Smart Team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17336" y="3703320"/>
            <a:ext cx="2606040" cy="9875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17336" y="3730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30"/>
                </a:solidFill>
              </a:rPr>
              <a:t>Module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7336" y="40690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Statistical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Building on prior research in cricket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73152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2006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3000" y="804672"/>
            <a:ext cx="758952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8412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Bailey &amp; Clarke —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84124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Bailey and Clarke introduced early statistical modelling techniques for </a:t>
            </a:r>
            <a:r>
              <a:rPr lang="en-US" sz="1050" dirty="0" err="1"/>
              <a:t>analysing</a:t>
            </a:r>
            <a:r>
              <a:rPr lang="en-US" sz="1050" dirty="0"/>
              <a:t> cricket performance and player contributions using historical match data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1563624"/>
            <a:ext cx="73152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6362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2011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1563624"/>
            <a:ext cx="758952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6002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Lemmer —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160020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Lemmer identified important player evaluation metrics such as strike rate, economy rate, wickets, and consistency in limited-overs cricket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0" y="2322576"/>
            <a:ext cx="73152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2257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2014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2322576"/>
            <a:ext cx="758952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Sankaranarayanan et al. —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34640" y="235915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This study applied machine learning techniques to predict cricket match outcomes using historical IPL match data</a:t>
            </a:r>
          </a:p>
        </p:txBody>
      </p:sp>
      <p:sp>
        <p:nvSpPr>
          <p:cNvPr id="23" name="Shape 21"/>
          <p:cNvSpPr/>
          <p:nvPr/>
        </p:nvSpPr>
        <p:spPr>
          <a:xfrm>
            <a:off x="320040" y="3081528"/>
            <a:ext cx="73152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8152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2001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3081528"/>
            <a:ext cx="758952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1181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Breiman — Random Forest —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34640" y="311810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 err="1"/>
              <a:t>Breiman</a:t>
            </a:r>
            <a:r>
              <a:rPr lang="en-US" sz="1050" dirty="0"/>
              <a:t> introduced Random Forest, an ensemble learning algorithm that improves prediction accuracy and handles complex feature relationships.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73152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404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2016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43000" y="3840480"/>
            <a:ext cx="758952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387705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Chen &amp; Guestrin — XGBoost —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387705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Chen and </a:t>
            </a:r>
            <a:r>
              <a:rPr lang="en-US" sz="1050" dirty="0" err="1"/>
              <a:t>Guestrin</a:t>
            </a:r>
            <a:r>
              <a:rPr lang="en-US" sz="1050" dirty="0"/>
              <a:t> developed </a:t>
            </a:r>
            <a:r>
              <a:rPr lang="en-US" sz="1050" dirty="0" err="1"/>
              <a:t>XGBoost</a:t>
            </a:r>
            <a:r>
              <a:rPr lang="en-US" sz="1050" dirty="0"/>
              <a:t>, an advanced boosting algorithm known for fast processing and high prediction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III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Three core analytical goals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713232" cy="713232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30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822960"/>
            <a:ext cx="758952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822960"/>
            <a:ext cx="73152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9144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Win Probability Prediction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26187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Predict real-time winning chances during second innings using runs required, wickets in hand, overs remaining, current &amp; required run rate.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713232" cy="7132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031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30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2103120"/>
            <a:ext cx="758952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103120"/>
            <a:ext cx="73152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19456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Smart Team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54203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Recommend an optimal playing XI for a new IPL franchise by analysing batting averages, strike rates, economy rates, wickets &amp; fielding records.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713232" cy="7132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8328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30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720" y="3383280"/>
            <a:ext cx="758952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383280"/>
            <a:ext cx="73152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47472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Statistical 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82219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Use hypothesis testing &amp; EDA to uncover hidden patterns — toss advantage, venue influence, team consistency &amp; player performance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IV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Data collection, preprocessing, feature engineering &amp; EDA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192024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896112"/>
            <a:ext cx="713232" cy="71323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961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Collection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Kaggle IPL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2008–2025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ball-by-ball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2331720"/>
            <a:ext cx="256032" cy="10972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777240"/>
            <a:ext cx="192024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44952" y="896112"/>
            <a:ext cx="713232" cy="71323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8961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50592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50592" y="242316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Duplicates, missing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values, team names,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type conversion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2331720"/>
            <a:ext cx="256032" cy="10972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777240"/>
            <a:ext cx="192024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21224" y="896112"/>
            <a:ext cx="713232" cy="71323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8961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26864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Engineering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26864" y="242316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Runs left, balls left,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CRR, RRR, match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phase, batting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2331720"/>
            <a:ext cx="256032" cy="10972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777240"/>
            <a:ext cx="192024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896112"/>
            <a:ext cx="713232" cy="71323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8961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03136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EDA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Visualisation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03136" y="242316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Top scorers, wickets,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team trends,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season patterns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0740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A1628"/>
                </a:solidFill>
              </a:rPr>
              <a:t>Dataset: 500,000+ ball-by-ball deliveries  ·  IPL seasons 2008–2025  ·  Source: Kaggle  ·  Target variable: batting_won (1 = chase win, 0 = loss)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Data preprocessing: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22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69164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5603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42900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1768" y="822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01768" y="169164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01768" y="25603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01768" y="342900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CA0BCE-C5DB-810F-34FF-D975A1EE0993}"/>
              </a:ext>
            </a:extLst>
          </p:cNvPr>
          <p:cNvSpPr txBox="1"/>
          <p:nvPr/>
        </p:nvSpPr>
        <p:spPr>
          <a:xfrm>
            <a:off x="209208" y="762053"/>
            <a:ext cx="2742046" cy="39703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Data collection:</a:t>
            </a:r>
          </a:p>
          <a:p>
            <a:r>
              <a:rPr lang="en-US" sz="1400" dirty="0">
                <a:solidFill>
                  <a:schemeClr val="bg2"/>
                </a:solidFill>
              </a:rPr>
              <a:t>278000 rows, 63 variables.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Data Description:</a:t>
            </a:r>
          </a:p>
          <a:p>
            <a:r>
              <a:rPr lang="en-US" sz="1400" dirty="0">
                <a:solidFill>
                  <a:schemeClr val="bg2"/>
                </a:solidFill>
              </a:rPr>
              <a:t>The dataset includes match information such as: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Match ID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Season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Batting Team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Bowling Team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Runs Scored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Wickets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Overs and Balls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Venue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Toss Winner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Match Winner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1675D1-580C-8AD3-BAC4-10758D63298C}"/>
              </a:ext>
            </a:extLst>
          </p:cNvPr>
          <p:cNvSpPr txBox="1"/>
          <p:nvPr/>
        </p:nvSpPr>
        <p:spPr>
          <a:xfrm>
            <a:off x="3122624" y="762053"/>
            <a:ext cx="2859812" cy="397031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Data preprocessing: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Removed duplicate and missing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Standardized inconsistent team and player names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Converted categorical variables into numerical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Converted columns into appropriate data types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Performed feature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61BAE0-EF75-3BDA-1B30-81D09A525450}"/>
              </a:ext>
            </a:extLst>
          </p:cNvPr>
          <p:cNvSpPr txBox="1"/>
          <p:nvPr/>
        </p:nvSpPr>
        <p:spPr>
          <a:xfrm>
            <a:off x="6153806" y="754029"/>
            <a:ext cx="2859812" cy="39703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Feature Engineering: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Runs Required</a:t>
            </a:r>
            <a:r>
              <a:rPr lang="en-US" sz="1400" dirty="0">
                <a:solidFill>
                  <a:schemeClr val="bg2"/>
                </a:solidFill>
              </a:rPr>
              <a:t> = Target − Current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Balls Remaining</a:t>
            </a:r>
            <a:r>
              <a:rPr lang="en-US" sz="1400" dirty="0">
                <a:solidFill>
                  <a:schemeClr val="bg2"/>
                </a:solidFill>
              </a:rPr>
              <a:t> = 120 − Balls Bowled </a:t>
            </a:r>
          </a:p>
          <a:p>
            <a:endParaRPr lang="en-US" sz="1400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CRR</a:t>
            </a:r>
            <a:r>
              <a:rPr lang="en-US" sz="1400" dirty="0">
                <a:solidFill>
                  <a:schemeClr val="bg2"/>
                </a:solidFill>
              </a:rPr>
              <a:t> = Current Score ÷ Overs Completed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RRR</a:t>
            </a:r>
            <a:r>
              <a:rPr lang="en-US" sz="1400" dirty="0">
                <a:solidFill>
                  <a:schemeClr val="bg2"/>
                </a:solidFill>
              </a:rPr>
              <a:t> = Runs Required ÷ Overs Remaining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Strike Rate</a:t>
            </a:r>
            <a:r>
              <a:rPr lang="en-US" sz="1400" dirty="0">
                <a:solidFill>
                  <a:schemeClr val="bg2"/>
                </a:solidFill>
              </a:rPr>
              <a:t> = (Runs ÷ Balls Faced) ×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C5C08-76F5-4FAC-C801-BBF4A553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5C8E5ADD-0D88-271E-03E4-562B6A686AD1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2CD1F54-0CF0-6596-7826-76DA2714E589}"/>
              </a:ext>
            </a:extLst>
          </p:cNvPr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F22FD-29F8-ED47-AF7D-5F994583ED87}"/>
              </a:ext>
            </a:extLst>
          </p:cNvPr>
          <p:cNvSpPr txBox="1"/>
          <p:nvPr/>
        </p:nvSpPr>
        <p:spPr>
          <a:xfrm>
            <a:off x="126124" y="112514"/>
            <a:ext cx="320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Exploratory Data Analysis: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41B769-3578-2445-D107-642244642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4" y="765516"/>
            <a:ext cx="4259529" cy="212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BA558C-C9D3-784B-7289-45DD88CB91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347" y="770509"/>
            <a:ext cx="4259529" cy="209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2C6C38-E64A-FF0B-6126-CED122853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4" y="3022096"/>
            <a:ext cx="4123376" cy="20444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CD08B2-7268-9E0A-B08B-50267A868A17}"/>
              </a:ext>
            </a:extLst>
          </p:cNvPr>
          <p:cNvCxnSpPr>
            <a:stCxn id="9" idx="0"/>
          </p:cNvCxnSpPr>
          <p:nvPr/>
        </p:nvCxnSpPr>
        <p:spPr>
          <a:xfrm>
            <a:off x="4572000" y="594360"/>
            <a:ext cx="0" cy="45491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9B14E1-BD6B-DC43-A9FF-F11E2A002A5A}"/>
              </a:ext>
            </a:extLst>
          </p:cNvPr>
          <p:cNvCxnSpPr>
            <a:cxnSpLocks/>
          </p:cNvCxnSpPr>
          <p:nvPr/>
        </p:nvCxnSpPr>
        <p:spPr>
          <a:xfrm>
            <a:off x="0" y="2945513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Shape 7">
            <a:extLst>
              <a:ext uri="{FF2B5EF4-FFF2-40B4-BE49-F238E27FC236}">
                <a16:creationId xmlns:a16="http://schemas.microsoft.com/office/drawing/2014/main" id="{666E0E55-11E9-F021-1165-17AE0B4A4D17}"/>
              </a:ext>
            </a:extLst>
          </p:cNvPr>
          <p:cNvSpPr/>
          <p:nvPr/>
        </p:nvSpPr>
        <p:spPr>
          <a:xfrm>
            <a:off x="4623815" y="3000382"/>
            <a:ext cx="4468371" cy="2111885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4BBA7A8E-760F-EEC6-BD88-834C29CDF720}"/>
              </a:ext>
            </a:extLst>
          </p:cNvPr>
          <p:cNvSpPr/>
          <p:nvPr/>
        </p:nvSpPr>
        <p:spPr>
          <a:xfrm>
            <a:off x="4914900" y="334797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V Kohli leads with 164,008 runs; S Dhawan (129,391) and DA Warner (129,387) compete for 2nd place — a gap of just 4 runs</a:t>
            </a:r>
            <a:endParaRPr lang="en-US" sz="11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9FE3EAA-AB0A-E880-710D-4D672333BE41}"/>
              </a:ext>
            </a:extLst>
          </p:cNvPr>
          <p:cNvSpPr/>
          <p:nvPr/>
        </p:nvSpPr>
        <p:spPr>
          <a:xfrm>
            <a:off x="4821000" y="304332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Interpretation:</a:t>
            </a:r>
            <a:endParaRPr lang="en-US" sz="12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2E69327-D951-29E0-3A04-8CE661C91554}"/>
              </a:ext>
            </a:extLst>
          </p:cNvPr>
          <p:cNvSpPr/>
          <p:nvPr/>
        </p:nvSpPr>
        <p:spPr>
          <a:xfrm>
            <a:off x="4594860" y="2978692"/>
            <a:ext cx="203279" cy="21648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FF61DA7-EF43-09A6-FCDE-A47EC6D8B8EA}"/>
              </a:ext>
            </a:extLst>
          </p:cNvPr>
          <p:cNvSpPr/>
          <p:nvPr/>
        </p:nvSpPr>
        <p:spPr>
          <a:xfrm>
            <a:off x="4914900" y="3873961"/>
            <a:ext cx="4135866" cy="521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Powerplay: gradual rise reaching peak in overs 5–6. Middle overs: steady. Death overs (16–20): exponential rise — over 20 nearly doubles over 1</a:t>
            </a:r>
            <a:endParaRPr lang="en-US" sz="11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32457BE5-DE47-9C02-4836-E5B3B73F449B}"/>
              </a:ext>
            </a:extLst>
          </p:cNvPr>
          <p:cNvSpPr/>
          <p:nvPr/>
        </p:nvSpPr>
        <p:spPr>
          <a:xfrm>
            <a:off x="4914900" y="450647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YS Chahal tops at 223 wickets; B Kumar (205) and SP Narine (200) are only other 200+ wicket bowlers; tight cluster in top 10</a:t>
            </a:r>
            <a:endParaRPr lang="en-US" sz="11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D6C4BA2-2E6D-450B-D2B1-DE27A473347C}"/>
              </a:ext>
            </a:extLst>
          </p:cNvPr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8884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1335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62763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82312" y="769988"/>
            <a:ext cx="4160520" cy="822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755799"/>
            <a:ext cx="731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78480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Season Trends (2007–25)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1064697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Post-2022 surge in total runs due to league expansion. Average per match rose from 290–310 to 350+ by 2024–25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1671092"/>
            <a:ext cx="4160520" cy="90065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1697683"/>
            <a:ext cx="731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17343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Most Consistent Batter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194672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B Sai Sudharsan tops the Mean/SD consistency ratio chart (1.176) — higher ratio = more predictable output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70E6CDA-1459-ED3C-36C4-C70CB15BA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4" y="722377"/>
            <a:ext cx="4586774" cy="2075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7D6A97D-1DE0-B90F-D9C6-B089D56F8B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04" y="2736958"/>
            <a:ext cx="8560676" cy="20799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IV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04851-0D68-D897-B0EB-CBB46E5F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3BD7B6-7BEC-EDAF-4FDA-070E38DEB920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4D5339-57A7-EDC9-9060-369C2078F537}"/>
              </a:ext>
            </a:extLst>
          </p:cNvPr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AA9B56-8F21-B0DF-7AE5-B7D33E22050B}"/>
              </a:ext>
            </a:extLst>
          </p:cNvPr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8A1488-864D-70B5-CDFA-C2415525C539}"/>
              </a:ext>
            </a:extLst>
          </p:cNvPr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V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B4F95D-8D10-110F-515C-4A66548ABB26}"/>
              </a:ext>
            </a:extLst>
          </p:cNvPr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AA4DB8-FFE9-91CB-E65A-6A21D878BDE4}"/>
              </a:ext>
            </a:extLst>
          </p:cNvPr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8 algorithms evaluated — KNN emerges as best performer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3489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4F3DB-C25D-FF2B-E88F-FF3591DC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568E39-2577-A762-A901-686A978DC67D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4B1FCA-CC01-3FDB-DB05-E83B5768A78C}"/>
              </a:ext>
            </a:extLst>
          </p:cNvPr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1329A9-3FF4-B852-1441-65DE5B4A1F72}"/>
              </a:ext>
            </a:extLst>
          </p:cNvPr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7E03E4-CB6F-51F8-78AF-CA5F427554A6}"/>
              </a:ext>
            </a:extLst>
          </p:cNvPr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7C8137-3CCA-9CF4-536D-3D27441F86B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754A98-7687-424D-E208-DAA86F4D4413}"/>
              </a:ext>
            </a:extLst>
          </p:cNvPr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F858AA6-FFB4-4DF5-BB6F-8FE9892AA8FB}"/>
              </a:ext>
            </a:extLst>
          </p:cNvPr>
          <p:cNvSpPr/>
          <p:nvPr/>
        </p:nvSpPr>
        <p:spPr>
          <a:xfrm>
            <a:off x="365760" y="82296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E8BB583-B2F0-58E0-2A27-B2EAE0DE65D6}"/>
              </a:ext>
            </a:extLst>
          </p:cNvPr>
          <p:cNvSpPr/>
          <p:nvPr/>
        </p:nvSpPr>
        <p:spPr>
          <a:xfrm>
            <a:off x="365760" y="822960"/>
            <a:ext cx="109728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55CB4F-A2CA-5D7B-0354-34A5955A036A}"/>
              </a:ext>
            </a:extLst>
          </p:cNvPr>
          <p:cNvSpPr/>
          <p:nvPr/>
        </p:nvSpPr>
        <p:spPr>
          <a:xfrm>
            <a:off x="566928" y="822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FFA2DA-F7B2-AD50-7818-B99CA8D332AF}"/>
              </a:ext>
            </a:extLst>
          </p:cNvPr>
          <p:cNvSpPr/>
          <p:nvPr/>
        </p:nvSpPr>
        <p:spPr>
          <a:xfrm>
            <a:off x="365760" y="169164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677FA98-07F1-5CDC-A1D5-CD5C7842AA11}"/>
              </a:ext>
            </a:extLst>
          </p:cNvPr>
          <p:cNvSpPr/>
          <p:nvPr/>
        </p:nvSpPr>
        <p:spPr>
          <a:xfrm>
            <a:off x="365760" y="1691640"/>
            <a:ext cx="109728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7B605A-D68E-83FB-8CD6-CCC46476F70D}"/>
              </a:ext>
            </a:extLst>
          </p:cNvPr>
          <p:cNvSpPr/>
          <p:nvPr/>
        </p:nvSpPr>
        <p:spPr>
          <a:xfrm>
            <a:off x="566928" y="169164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7580991-4873-D8F8-FD94-5230D882F231}"/>
              </a:ext>
            </a:extLst>
          </p:cNvPr>
          <p:cNvSpPr/>
          <p:nvPr/>
        </p:nvSpPr>
        <p:spPr>
          <a:xfrm>
            <a:off x="365760" y="256032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3D85FC4-7472-A5BA-5BC4-D0B13BEAC36F}"/>
              </a:ext>
            </a:extLst>
          </p:cNvPr>
          <p:cNvSpPr/>
          <p:nvPr/>
        </p:nvSpPr>
        <p:spPr>
          <a:xfrm>
            <a:off x="365760" y="2560320"/>
            <a:ext cx="109728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E40EF9-7EF5-85F9-FCE3-0B108F1D0F58}"/>
              </a:ext>
            </a:extLst>
          </p:cNvPr>
          <p:cNvSpPr/>
          <p:nvPr/>
        </p:nvSpPr>
        <p:spPr>
          <a:xfrm>
            <a:off x="566928" y="25603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80B670A-2116-62F2-701F-E1FBFF64D662}"/>
              </a:ext>
            </a:extLst>
          </p:cNvPr>
          <p:cNvSpPr/>
          <p:nvPr/>
        </p:nvSpPr>
        <p:spPr>
          <a:xfrm>
            <a:off x="365760" y="342900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55B2478-3C89-7DFC-2723-3603846735D4}"/>
              </a:ext>
            </a:extLst>
          </p:cNvPr>
          <p:cNvSpPr/>
          <p:nvPr/>
        </p:nvSpPr>
        <p:spPr>
          <a:xfrm>
            <a:off x="365760" y="3429000"/>
            <a:ext cx="109728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B8192EA-BA4B-2E37-1821-32DD2832E1FE}"/>
              </a:ext>
            </a:extLst>
          </p:cNvPr>
          <p:cNvSpPr/>
          <p:nvPr/>
        </p:nvSpPr>
        <p:spPr>
          <a:xfrm>
            <a:off x="566928" y="342900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SVM (Linear)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E0A6F09-E61A-DD2B-608D-A6442E761E48}"/>
              </a:ext>
            </a:extLst>
          </p:cNvPr>
          <p:cNvSpPr/>
          <p:nvPr/>
        </p:nvSpPr>
        <p:spPr>
          <a:xfrm>
            <a:off x="4800600" y="822960"/>
            <a:ext cx="4160520" cy="69494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ACF305F-20CD-7377-6EED-AB977A6DA5CC}"/>
              </a:ext>
            </a:extLst>
          </p:cNvPr>
          <p:cNvSpPr/>
          <p:nvPr/>
        </p:nvSpPr>
        <p:spPr>
          <a:xfrm>
            <a:off x="4800600" y="822960"/>
            <a:ext cx="109728" cy="69494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7FF4D3-3334-0C9F-07CC-2B5CE9DF62D5}"/>
              </a:ext>
            </a:extLst>
          </p:cNvPr>
          <p:cNvSpPr/>
          <p:nvPr/>
        </p:nvSpPr>
        <p:spPr>
          <a:xfrm>
            <a:off x="5001768" y="8229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K-Nearest Neighbours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3D6471-75E5-2CE5-245C-0764571DFD81}"/>
              </a:ext>
            </a:extLst>
          </p:cNvPr>
          <p:cNvSpPr/>
          <p:nvPr/>
        </p:nvSpPr>
        <p:spPr>
          <a:xfrm>
            <a:off x="7543800" y="822960"/>
            <a:ext cx="1325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1628"/>
                </a:solidFill>
              </a:rPr>
              <a:t>✓ BEST MODEL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F8AAEF3-E9B2-2941-8DEB-F7AD3029CF3A}"/>
              </a:ext>
            </a:extLst>
          </p:cNvPr>
          <p:cNvSpPr/>
          <p:nvPr/>
        </p:nvSpPr>
        <p:spPr>
          <a:xfrm>
            <a:off x="4800600" y="169164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6B4B626-8586-C660-8165-393CA92B3BC0}"/>
              </a:ext>
            </a:extLst>
          </p:cNvPr>
          <p:cNvSpPr/>
          <p:nvPr/>
        </p:nvSpPr>
        <p:spPr>
          <a:xfrm>
            <a:off x="4800600" y="1691640"/>
            <a:ext cx="109728" cy="694944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91EF48-3ADD-15C8-A740-922602F5674D}"/>
              </a:ext>
            </a:extLst>
          </p:cNvPr>
          <p:cNvSpPr/>
          <p:nvPr/>
        </p:nvSpPr>
        <p:spPr>
          <a:xfrm>
            <a:off x="5001768" y="169164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Naïve Bayes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0A0AF80-1F8B-2D31-1068-8D26F8D5AD2E}"/>
              </a:ext>
            </a:extLst>
          </p:cNvPr>
          <p:cNvSpPr/>
          <p:nvPr/>
        </p:nvSpPr>
        <p:spPr>
          <a:xfrm>
            <a:off x="4800600" y="256032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C10F0A5-BE98-129D-3613-B7D0A6CD4D4B}"/>
              </a:ext>
            </a:extLst>
          </p:cNvPr>
          <p:cNvSpPr/>
          <p:nvPr/>
        </p:nvSpPr>
        <p:spPr>
          <a:xfrm>
            <a:off x="4800600" y="2560320"/>
            <a:ext cx="109728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3F9F88-B06B-90FE-4253-D44E657B0BD9}"/>
              </a:ext>
            </a:extLst>
          </p:cNvPr>
          <p:cNvSpPr/>
          <p:nvPr/>
        </p:nvSpPr>
        <p:spPr>
          <a:xfrm>
            <a:off x="5001768" y="25603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XGBoost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CCEA644-0B8C-733C-2F36-4E5D1F841BDD}"/>
              </a:ext>
            </a:extLst>
          </p:cNvPr>
          <p:cNvSpPr/>
          <p:nvPr/>
        </p:nvSpPr>
        <p:spPr>
          <a:xfrm>
            <a:off x="4800600" y="3429000"/>
            <a:ext cx="41605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C6680DF-61DF-2310-AFD7-D918128CB045}"/>
              </a:ext>
            </a:extLst>
          </p:cNvPr>
          <p:cNvSpPr/>
          <p:nvPr/>
        </p:nvSpPr>
        <p:spPr>
          <a:xfrm>
            <a:off x="4800600" y="3429000"/>
            <a:ext cx="109728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6D59F6B-DD3F-5ECC-87FE-585FC1645C04}"/>
              </a:ext>
            </a:extLst>
          </p:cNvPr>
          <p:cNvSpPr/>
          <p:nvPr/>
        </p:nvSpPr>
        <p:spPr>
          <a:xfrm>
            <a:off x="5001768" y="342900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LightGBM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1927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Why KNN?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Classifies match outcome by comparing to nearest similar historical matches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764792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190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Uses Euclidean distance across match-state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494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Train/test split: 80% / 20% with stratified sampling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201168" cy="201168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7797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Five-Fold Cross-Validation ensures robust generalisation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749808"/>
            <a:ext cx="13716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82296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97%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1333195"/>
            <a:ext cx="13716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89520" y="749808"/>
            <a:ext cx="13716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82296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0.97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9520" y="1333195"/>
            <a:ext cx="13716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AUC-ROC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874520"/>
            <a:ext cx="13716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947672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0.97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26480" y="2457907"/>
            <a:ext cx="13716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Precision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1874520"/>
            <a:ext cx="13716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947672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0.97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589520" y="2457907"/>
            <a:ext cx="137160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F1-Score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24340"/>
            <a:ext cx="84124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Confusion Matrix Highlights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0507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Correct: 12,709 (Bowling wins) + 13,390 (Batting wins) = 26,099 correct out of 26,781 test samples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Errors: 349 + 333 — nearly equal false positives &amp; negatives → no class bias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3017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Most Important Features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291840"/>
            <a:ext cx="1188720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291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Runs Left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64208" y="3291840"/>
            <a:ext cx="1188720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64208" y="3291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Balls Left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62656" y="3291840"/>
            <a:ext cx="1188720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3291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Required Run Rate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61104" y="3291840"/>
            <a:ext cx="1188720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61104" y="3291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Wickets Remaining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VI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Deployment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Interactive Gradio-based IPL Smart Analytics System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Smart Analytics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A1628"/>
                </a:solidFill>
              </a:rPr>
              <a:t>Built with Gradio — 3 Interactive Modules: </a:t>
            </a:r>
            <a:r>
              <a:rPr lang="en-US" sz="1600" b="1" dirty="0">
                <a:solidFill>
                  <a:srgbClr val="0A1628"/>
                </a:solidFill>
                <a:hlinkClick r:id="rId3"/>
              </a:rPr>
              <a:t>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274320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353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🎯  Win Predictor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" y="1920240"/>
            <a:ext cx="2414016" cy="2743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Select batting &amp; bowling teams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Enter target, current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638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Input balls bowled &amp; wickets fallen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Get live win probability for both sides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743200" cy="3337560"/>
          </a:xfrm>
          <a:prstGeom prst="rect">
            <a:avLst/>
          </a:prstGeom>
          <a:solidFill>
            <a:srgbClr val="0D7377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00400" y="1353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🏏  Team Builder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64992" y="1920240"/>
            <a:ext cx="2414016" cy="2743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Click 'Build Recommended XI'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View role-wise squad (WK, Openers, MO, AR, Bowlers)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1638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Player composite scores shown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730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61872"/>
            <a:ext cx="2743200" cy="3337560"/>
          </a:xfrm>
          <a:prstGeom prst="rect">
            <a:avLst/>
          </a:prstGeom>
          <a:solidFill>
            <a:srgbClr val="1A3A5C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353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830"/>
                </a:solidFill>
              </a:rPr>
              <a:t>📊  Dashboard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1920240"/>
            <a:ext cx="2414016" cy="2743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›  Top run scorers &amp; wicket takers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78240" y="1261872"/>
            <a:ext cx="0" cy="0"/>
          </a:xfrm>
          <a:prstGeom prst="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274320" y="4709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0C9A7"/>
                </a:solidFill>
              </a:rPr>
              <a:t>Example:  MI (100/3 in 60 balls, target 180 vs CSK)  →  Win Prob: MI 100%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Team Builder — Recommended XI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9A"/>
                </a:solidFill>
              </a:rPr>
              <a:t>Active Seasons 2023–2025  |  Data-Driven Squad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8720"/>
            <a:ext cx="365760" cy="47548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KL Rahul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1887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Wicketkeeper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11887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73936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73936"/>
            <a:ext cx="36576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7393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17739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Shubman Gill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1773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Opener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177393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59152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59152"/>
            <a:ext cx="36576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59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23591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 Kohli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23591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Opener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2359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44368"/>
            <a:ext cx="3657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443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29443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 Sai Sudharsan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Middle-order Batter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94436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29584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529584"/>
            <a:ext cx="3657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5295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DP Conway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352958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Middle-order Batter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0" y="352958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14800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14800"/>
            <a:ext cx="3657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1148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RD Gaikwad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0" y="41148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Middle-order Batter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31920" y="41148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1188720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1188720"/>
            <a:ext cx="36576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11887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1188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SP Narine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23760" y="11887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All-Rounder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12480" y="11887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1773936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1773936"/>
            <a:ext cx="36576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177393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17739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Noor Ahmad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1773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All-Rounder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12480" y="177393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54880" y="2359152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2359152"/>
            <a:ext cx="365760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359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12080" y="23591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JJ Bumrah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23760" y="23591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Bowler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12480" y="2359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2944368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54880" y="2944368"/>
            <a:ext cx="365760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29443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12080" y="29443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CV Varun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22376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Bowler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12480" y="294436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54880" y="3529584"/>
            <a:ext cx="41148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54880" y="3529584"/>
            <a:ext cx="365760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35295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12080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Mohammed Siraj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223760" y="352958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9A"/>
                </a:solidFill>
              </a:rPr>
              <a:t>Bowler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412480" y="352958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VII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Discussion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Key findings from ML models and statistical tests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Statistical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Hypothesis Testing Outcomes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023360" cy="1920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73152" cy="19202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Toss Impact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Chi-Square Test: χ² = 6.83, p = 0.009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→ REJECT H₀ — Toss significantly affects outcome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65.4% of captains choose to field first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Toss winner wins ~50–52% of matches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261872"/>
            <a:ext cx="4023360" cy="1920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261872"/>
            <a:ext cx="73152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Chasing vs Batting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Two-Sample T-Test: t = −4.09, p &lt; 0.001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→ REJECT H₀ — Significant difference found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Chasing team win rate: 53.4%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Batting first win rate: 44.9%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3832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164K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0040" y="3893515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 Kohli — All-time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IPL top scorer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50008" y="3310128"/>
            <a:ext cx="192024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50008" y="33832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223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350008" y="3893515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YS Chahal — Most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wickets ever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79976" y="3310128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79976" y="33832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350+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79976" y="3893515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Avg runs/match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(2024–25 season)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9944" y="3310128"/>
            <a:ext cx="19202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9944" y="33832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30"/>
                </a:solidFill>
              </a:rPr>
              <a:t>60%+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09944" y="3893515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Gujarat Titans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win percentage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VIII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Current constraints and roadmap ahead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VIII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6052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4160520" cy="420624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7724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Current Limitations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316736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2618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No real-time data feeding (offline dataset only)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828800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739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Weather, pitch &amp; player fitness not captured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860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Model misses momentum shifts &amp; star-player impact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980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Team builder uses only post-2023 seasons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101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Batting position approximated by overs played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877056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22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No auction budget constraints in team selection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777240"/>
            <a:ext cx="416052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777240"/>
            <a:ext cx="416052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77724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Future Scope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316736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2618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Live ball-by-ball prediction via Flask/Streamlit APIs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17739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Add pitch, weather &amp; injury report features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340864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2860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Deep learning: LSTM / RNN for sequential patterns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852928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7980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Expand team builder with auction price &amp; 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364992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3101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Mobile &amp; web app for fans &amp; analysts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877056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822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Player head-to-head &amp; partnership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1097280" cy="10972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A7"/>
                </a:solidFill>
              </a:rPr>
              <a:t>Key literature supporting this work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91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830"/>
                </a:solidFill>
              </a:rPr>
              <a:t>Chapter IX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Predictive Sports Analytics Framework for IPL  |  Shravani Ghadge  |  MIT ADT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Banerjee et al. (2019) — Innovative ranking strategy for IPL team formation. arXiv:1908.01725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16736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1673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131673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Verma et al. (2022) — Balanced squad for IPL using modified NSGA-II. IEEE Access.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810512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1051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18105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Gokul &amp; Sundararaman (2023) — Determining playing XI based on opposition squad. J. Sports Analytics.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04288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0428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23042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Dey et al. (2024) — Optimising IPL squad: mathematical framework. IJDATS, 16(3), 311–340.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9806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2798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Lamsal &amp; Choudhary (2018) — Predicting IPL match outcomes using machine learning. arXiv:1809.09813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Malhotra (2022) — Auction prices &amp; economic value creation of IPL cricketers. J. Sports Analytics.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8561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37856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Bhatnagar (2024) — FanCric: Multi-agent framework for fantasy cricket teams. arXiv:2410.01307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279392"/>
            <a:ext cx="292608" cy="3474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7939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" y="4279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Ganesh (2026) — Simulation-based optimisation of batting order &amp; bowling plans in T20. arXiv.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B830"/>
                </a:solidFill>
              </a:rPr>
              <a:t>Questions &amp; Feedback Welcome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Shravani Manik Ghadge</a:t>
            </a:r>
            <a:r>
              <a:rPr lang="en-US" sz="1200" dirty="0">
                <a:solidFill>
                  <a:srgbClr val="7F8C9A"/>
                </a:solidFill>
              </a:rPr>
              <a:t>   •   ADT24SESM0137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9A"/>
                </a:solidFill>
              </a:rPr>
              <a:t>M.Sc. Applied Statistics (Data Science)  |  MIT ADT University, Pune  |  May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Guide: Dr. Rohit Raskar  |  Co-Guide: Dr. Pratibha Jadhav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4434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1687</Words>
  <Application>Microsoft Office PowerPoint</Application>
  <PresentationFormat>On-screen Show (16:9)</PresentationFormat>
  <Paragraphs>362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Sports Analytics Framework for IPL</dc:title>
  <dc:subject>PptxGenJS Presentation</dc:subject>
  <dc:creator>PptxGenJS</dc:creator>
  <cp:lastModifiedBy>SHRAVANI GHADGE</cp:lastModifiedBy>
  <cp:revision>12</cp:revision>
  <dcterms:created xsi:type="dcterms:W3CDTF">2026-05-17T15:50:01Z</dcterms:created>
  <dcterms:modified xsi:type="dcterms:W3CDTF">2026-05-18T07:47:32Z</dcterms:modified>
</cp:coreProperties>
</file>